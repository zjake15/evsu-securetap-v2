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8" r:id="rId29"/>
    <p:sldId id="275" r:id="rId23"/>
    <p:sldId id="276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4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47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5312"/>
            <a:ext cx="12191695" cy="3048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58368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2331720"/>
            <a:ext cx="1060704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F3E2BC"/>
                </a:solidFill>
                <a:latin typeface="Segoe UI Semibold" panose="020B0702040204020203"/>
              </a:rPr>
              <a:t>UNDERGRADUATE CAPSTONE PROJECT  ·  </a:t>
            </a:r>
            <a:r>
              <a:rPr lang="en-PH" sz="1300" b="1" i="0" spc="140">
                <a:solidFill>
                  <a:srgbClr val="F3E2BC"/>
                </a:solidFill>
                <a:latin typeface="Segoe UI Semibold" panose="020B0702040204020203"/>
              </a:rPr>
              <a:t>SCHOOL </a:t>
            </a:r>
            <a:r>
              <a:rPr sz="1300" b="1" i="0" spc="140">
                <a:solidFill>
                  <a:srgbClr val="F3E2BC"/>
                </a:solidFill>
                <a:latin typeface="Segoe UI Semibold" panose="020B0702040204020203"/>
              </a:rPr>
              <a:t>OF </a:t>
            </a:r>
            <a:r>
              <a:rPr lang="en-PH" sz="1300" b="1" i="0" spc="140">
                <a:solidFill>
                  <a:srgbClr val="F3E2BC"/>
                </a:solidFill>
                <a:latin typeface="Segoe UI Semibold" panose="020B0702040204020203"/>
              </a:rPr>
              <a:t>ENGINEERING</a:t>
            </a:r>
            <a:endParaRPr lang="en-PH" sz="1300" b="1" i="0" spc="140">
              <a:solidFill>
                <a:srgbClr val="F3E2BC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724912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 panose="020B0502040204020203"/>
              </a:rPr>
              <a:t>EVSU SecureTap</a:t>
            </a:r>
            <a:endParaRPr sz="60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639312"/>
            <a:ext cx="10424160" cy="671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F1CECF"/>
                </a:solidFill>
                <a:latin typeface="Segoe UI" panose="020B0502040204020203"/>
              </a:rPr>
              <a:t>NFC </a:t>
            </a:r>
            <a:r>
              <a:rPr lang="en-PH" sz="1900" b="0" i="0">
                <a:solidFill>
                  <a:srgbClr val="F1CECF"/>
                </a:solidFill>
                <a:latin typeface="Segoe UI" panose="020B0502040204020203"/>
              </a:rPr>
              <a:t> And Facial Recognition-Based Campus </a:t>
            </a:r>
            <a:endParaRPr lang="en-PH" sz="1900" b="0" i="0">
              <a:solidFill>
                <a:srgbClr val="F1CECF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</a:pPr>
            <a:r>
              <a:rPr lang="en-PH" sz="1900" b="0" i="0">
                <a:solidFill>
                  <a:srgbClr val="F1CECF"/>
                </a:solidFill>
                <a:latin typeface="Segoe UI" panose="020B0502040204020203"/>
              </a:rPr>
              <a:t>Entry Monitoring System</a:t>
            </a:r>
            <a:endParaRPr sz="190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4526280"/>
            <a:ext cx="457200" cy="3302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68172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00">
                <a:solidFill>
                  <a:srgbClr val="F1CECF"/>
                </a:solidFill>
                <a:latin typeface="Segoe UI Semibold" panose="020B0702040204020203"/>
              </a:rPr>
              <a:t>Presented by</a:t>
            </a:r>
            <a:endParaRPr sz="1100" b="0" i="0" spc="100">
              <a:solidFill>
                <a:srgbClr val="F1CECF"/>
              </a:solidFill>
              <a:latin typeface="Segoe UI Semibold" panose="020B07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974336"/>
            <a:ext cx="8229600" cy="738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PH" sz="1600" b="1" i="0">
                <a:solidFill>
                  <a:srgbClr val="FFFFFF"/>
                </a:solidFill>
                <a:latin typeface="Segoe UI" panose="020B0502040204020203"/>
              </a:rPr>
              <a:t>Zhander Jake Bastes</a:t>
            </a:r>
            <a:br>
              <a:rPr lang="en-PH" sz="1600" b="1" i="0">
                <a:solidFill>
                  <a:srgbClr val="FFFFFF"/>
                </a:solidFill>
                <a:latin typeface="Segoe UI" panose="020B0502040204020203"/>
              </a:rPr>
            </a:br>
            <a:r>
              <a:rPr lang="en-PH" sz="1600" b="1" i="0">
                <a:solidFill>
                  <a:srgbClr val="FFFFFF"/>
                </a:solidFill>
                <a:latin typeface="Segoe UI" panose="020B0502040204020203"/>
              </a:rPr>
              <a:t>Philip Lenard Peneda</a:t>
            </a:r>
            <a:br>
              <a:rPr lang="en-PH" sz="1600" b="1" i="0">
                <a:solidFill>
                  <a:srgbClr val="FFFFFF"/>
                </a:solidFill>
                <a:latin typeface="Segoe UI" panose="020B0502040204020203"/>
              </a:rPr>
            </a:br>
            <a:r>
              <a:rPr lang="en-PH" sz="1600" b="1" i="0">
                <a:solidFill>
                  <a:srgbClr val="FFFFFF"/>
                </a:solidFill>
                <a:latin typeface="Segoe UI" panose="020B0502040204020203"/>
              </a:rPr>
              <a:t>Mark William Brua</a:t>
            </a:r>
            <a:endParaRPr lang="en-PH" sz="16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6108192"/>
            <a:ext cx="731520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3E2BC"/>
                </a:solidFill>
                <a:latin typeface="Segoe UI Semibold" panose="020B0702040204020203"/>
              </a:rPr>
              <a:t>Panel : Cabral  ·  Badilla  ·  Alberca</a:t>
            </a:r>
            <a:r>
              <a:rPr lang="en-PH" sz="1200" b="0" i="0">
                <a:solidFill>
                  <a:srgbClr val="F3E2BC"/>
                </a:solidFill>
                <a:latin typeface="Segoe UI Semibold" panose="020B0702040204020203"/>
              </a:rPr>
              <a:t>		Adviser : Neil M. Pascual</a:t>
            </a:r>
            <a:endParaRPr lang="en-PH" sz="1200" b="0" i="0">
              <a:solidFill>
                <a:srgbClr val="F3E2BC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966960" y="6108192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3E2BC"/>
                </a:solidFill>
                <a:latin typeface="Segoe UI Semibold" panose="020B0702040204020203"/>
              </a:rPr>
              <a:t>August 2026</a:t>
            </a:r>
            <a:endParaRPr sz="1200" b="0" i="0">
              <a:solidFill>
                <a:srgbClr val="F3E2BC"/>
              </a:solidFill>
              <a:latin typeface="Segoe UI Semibold" panose="020B07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OVERVIEW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Presentation Outline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AGENDA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02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01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44168" y="18379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Introduction &amp; Background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928" y="2350008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569464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02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4168" y="262432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Statement of the Problem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3136392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35584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03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4168" y="34107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Objectives of the Study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6928" y="3922776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42232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04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44168" y="419709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Scope &amp; Limitations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4709160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92861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05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44168" y="4983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System Architecture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66928" y="5495544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1500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06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44168" y="57698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Core Innovation — Face Recognition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6281928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78308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07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50608" y="183794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Core Innovation — Anti-Spoofing / Liveness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73368" y="2350008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2569464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08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50608" y="262432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Core Innovation — Face + NFC Verification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73368" y="3136392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355848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09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50608" y="3410712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Admin Dashboard &amp; Reporting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73368" y="3922776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73368" y="4142232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10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50608" y="4197096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Data Privacy &amp; Security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73368" y="4709160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8" y="4928616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11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150608" y="4983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Actual Accomplishments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373368" y="5495544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5715000"/>
            <a:ext cx="777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1CECF"/>
                </a:solidFill>
                <a:latin typeface="Segoe UI Light" panose="020B0502040204020203"/>
              </a:rPr>
              <a:t>12</a:t>
            </a:r>
            <a:endParaRPr sz="2200" b="1" i="0">
              <a:solidFill>
                <a:srgbClr val="F1CECF"/>
              </a:solidFill>
              <a:latin typeface="Segoe UI Light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150608" y="5769864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Future Work &amp; Conclusion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73368" y="6281928"/>
            <a:ext cx="5349240" cy="1270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INTRODUCTION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Why Gate Security Needs to Evolve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BACKGROUND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03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212080" cy="1019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746967"/>
                </a:solidFill>
                <a:latin typeface="Segoe UI" panose="020B0502040204020203"/>
              </a:rPr>
              <a:t>University gates are still largely secured the way they were decades ago — a guard checking a printed card by eye.</a:t>
            </a:r>
            <a:endParaRPr sz="17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>
            <p:custDataLst>
              <p:tags r:id="rId1"/>
            </p:custDataLst>
          </p:nvPr>
        </p:nvSpPr>
        <p:spPr>
          <a:xfrm>
            <a:off x="5989320" y="1783080"/>
            <a:ext cx="54864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5989320" y="1783080"/>
            <a:ext cx="82296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6309360" y="1901952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Cards prove possession,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not identity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6309360" y="2441448"/>
            <a:ext cx="493776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A lost, borrowed, or forged ID </a:t>
            </a:r>
            <a:r>
              <a:rPr lang="en-PH" sz="1200" b="0" i="0">
                <a:solidFill>
                  <a:srgbClr val="746967"/>
                </a:solidFill>
                <a:latin typeface="Segoe UI" panose="020B0502040204020203"/>
              </a:rPr>
              <a:t>goes unchecked</a:t>
            </a: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5989320" y="3008376"/>
            <a:ext cx="54864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6"/>
            </p:custDataLst>
          </p:nvPr>
        </p:nvSpPr>
        <p:spPr>
          <a:xfrm>
            <a:off x="5989320" y="3008376"/>
            <a:ext cx="82296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309360" y="312724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Manual checks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don't scale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309360" y="3666744"/>
            <a:ext cx="4937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Guards fatigue during rush hours; verification quality drops.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>
            <p:custDataLst>
              <p:tags r:id="rId9"/>
            </p:custDataLst>
          </p:nvPr>
        </p:nvSpPr>
        <p:spPr>
          <a:xfrm>
            <a:off x="5989320" y="4233672"/>
            <a:ext cx="5486400" cy="10789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5989320" y="4233672"/>
            <a:ext cx="82296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6309360" y="4352544"/>
            <a:ext cx="4937760" cy="467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PH" sz="1450" b="1" i="0">
                <a:solidFill>
                  <a:srgbClr val="241C1B"/>
                </a:solidFill>
                <a:latin typeface="Segoe UI Semibold" panose="020B0702040204020203"/>
              </a:rPr>
              <a:t>RFID/NFC readers verify the card,</a:t>
            </a:r>
            <a:endParaRPr lang="en-PH" sz="1450" b="1" i="0">
              <a:solidFill>
                <a:srgbClr val="241C1B"/>
              </a:solidFill>
              <a:latin typeface="Segoe UI Semibold" panose="020B0702040204020203"/>
            </a:endParaRPr>
          </a:p>
          <a:p>
            <a:pPr algn="l">
              <a:lnSpc>
                <a:spcPct val="105000"/>
              </a:lnSpc>
            </a:pPr>
            <a:r>
              <a:rPr lang="en-PH" sz="1450" b="1" i="0">
                <a:solidFill>
                  <a:srgbClr val="241C1B"/>
                </a:solidFill>
                <a:latin typeface="Segoe UI Semibold" panose="020B0702040204020203"/>
              </a:rPr>
              <a:t>not the person</a:t>
            </a:r>
            <a:endParaRPr lang="en-PH"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6309360" y="4892040"/>
            <a:ext cx="493776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A tap only confirms a chip's ID</a:t>
            </a:r>
            <a:r>
              <a:rPr lang="en-PH" sz="1200" b="0" i="0">
                <a:solidFill>
                  <a:srgbClr val="746967"/>
                </a:solidFill>
                <a:latin typeface="Segoe UI" panose="020B0502040204020203"/>
              </a:rPr>
              <a:t>,</a:t>
            </a: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 not who is holding it.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66928" y="553212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7B1113"/>
                </a:solidFill>
                <a:latin typeface="Segoe UI" panose="020B0502040204020203"/>
              </a:rPr>
              <a:t>EVSU SecureTap combines continuous face recognition, a passive anti-spoofing layer, and an NFC card as a smart tiebreaker — verifying identity, not just an ID card.</a:t>
            </a:r>
            <a:endParaRPr sz="1500" b="1" i="0">
              <a:solidFill>
                <a:srgbClr val="7B1113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THE PROBLEM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Statement of the Problem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BACKGROUND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04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202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828800"/>
            <a:ext cx="10680192" cy="5251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200"/>
              </a:spcBef>
            </a:pPr>
            <a:r>
              <a:rPr lang="en-PH" sz="1550" b="1" i="0">
                <a:solidFill>
                  <a:srgbClr val="241C1B"/>
                </a:solidFill>
                <a:latin typeface="Segoe UI Semibold" panose="020B0702040204020203"/>
              </a:rPr>
              <a:t>Lack of identity verification beyond physical identification credentials</a:t>
            </a:r>
            <a:endParaRPr lang="en-PH" sz="15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lang="en-PH" sz="1400" b="0" i="0">
                <a:solidFill>
                  <a:srgbClr val="746967"/>
                </a:solidFill>
                <a:latin typeface="Segoe UI" panose="020B0502040204020203"/>
              </a:rPr>
              <a:t>Identification cards alone do not verify that the person presenting them is the rightful owner.</a:t>
            </a:r>
            <a:endParaRPr lang="en-PH" sz="14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261518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523744"/>
            <a:ext cx="1068019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50" b="1" i="0">
                <a:solidFill>
                  <a:srgbClr val="241C1B"/>
                </a:solidFill>
                <a:latin typeface="Segoe UI Semibold" panose="020B0702040204020203"/>
              </a:rPr>
              <a:t>Face recognition alone is exploitable</a:t>
            </a:r>
            <a:endParaRPr sz="15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746967"/>
                </a:solidFill>
                <a:latin typeface="Segoe UI" panose="020B0502040204020203"/>
              </a:rPr>
              <a:t>A camera-only system with no liveness check can be fooled by a printed photo or a phone/tablet screen held up to the lens.</a:t>
            </a:r>
            <a:endParaRPr sz="14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3101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218688"/>
            <a:ext cx="1068019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50" b="1" i="0">
                <a:solidFill>
                  <a:srgbClr val="241C1B"/>
                </a:solidFill>
                <a:latin typeface="Segoe UI Semibold" panose="020B0702040204020203"/>
              </a:rPr>
              <a:t>Manual verification is inconsistent</a:t>
            </a:r>
            <a:endParaRPr sz="15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746967"/>
                </a:solidFill>
                <a:latin typeface="Segoe UI" panose="020B0502040204020203"/>
              </a:rPr>
              <a:t>Guard-only checks vary with fatigue, shift changes, and traffic volume, especially during peak entry/exit periods.</a:t>
            </a:r>
            <a:endParaRPr sz="14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400507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913632"/>
            <a:ext cx="10680192" cy="766445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550" b="1" i="0">
                <a:solidFill>
                  <a:srgbClr val="241C1B"/>
                </a:solidFill>
                <a:latin typeface="Segoe UI Semibold" panose="020B0702040204020203"/>
              </a:rPr>
              <a:t>Off-the-shelf hardware constraint</a:t>
            </a:r>
            <a:endParaRPr sz="15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400" b="0" i="0">
                <a:solidFill>
                  <a:srgbClr val="746967"/>
                </a:solidFill>
                <a:latin typeface="Segoe UI" panose="020B0502040204020203"/>
              </a:rPr>
              <a:t>A real deployment can't assume depth or infrared sensors</a:t>
            </a:r>
            <a:r>
              <a:rPr lang="en-PH" sz="1400" b="0" i="0">
                <a:solidFill>
                  <a:srgbClr val="746967"/>
                </a:solidFill>
                <a:latin typeface="Segoe UI" panose="020B0502040204020203"/>
              </a:rPr>
              <a:t>, the system must perform authentication effectively using affordable, readily</a:t>
            </a:r>
            <a:endParaRPr lang="en-PH" sz="1400" b="0" i="0">
              <a:solidFill>
                <a:srgbClr val="746967"/>
              </a:solidFill>
              <a:latin typeface="Segoe UI" panose="020B0502040204020203"/>
            </a:endParaRPr>
          </a:p>
          <a:p>
            <a:pPr>
              <a:spcBef>
                <a:spcPts val="200"/>
              </a:spcBef>
            </a:pPr>
            <a:r>
              <a:rPr lang="en-PH" sz="1400" b="0" i="0">
                <a:solidFill>
                  <a:srgbClr val="746967"/>
                </a:solidFill>
                <a:latin typeface="Segoe UI" panose="020B0502040204020203"/>
              </a:rPr>
              <a:t>available hardware.</a:t>
            </a:r>
            <a:endParaRPr lang="en-PH" sz="1400" b="0" i="0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GOALS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Objectives of the Study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OBJECTIVES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05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C9932B"/>
                </a:solidFill>
                <a:latin typeface="Segoe UI Semibold" panose="020B0702040204020203"/>
              </a:rPr>
              <a:t>General Objective</a:t>
            </a:r>
            <a:endParaRPr sz="1400" b="1" i="0" spc="10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2084831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41C1B"/>
                </a:solidFill>
                <a:latin typeface="Segoe UI" panose="020B0502040204020203"/>
              </a:rPr>
              <a:t>To design and develop an integrated face-recognition and NFC-based gate entry/exit system for EVSU, with built-in anti-spoofing protection.</a:t>
            </a:r>
            <a:endParaRPr sz="16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28803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C9932B"/>
                </a:solidFill>
                <a:latin typeface="Segoe UI Semibold" panose="020B0702040204020203"/>
              </a:rPr>
              <a:t>Specific Objectives</a:t>
            </a:r>
            <a:endParaRPr sz="1400" b="1" i="0" spc="10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66928" y="3310128"/>
            <a:ext cx="365760" cy="36576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</a:rPr>
              <a:t>1</a:t>
            </a:r>
            <a:endParaRPr sz="15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" y="3337560"/>
            <a:ext cx="1024128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41C1B"/>
                </a:solidFill>
                <a:latin typeface="Segoe UI" panose="020B0502040204020203"/>
              </a:rPr>
              <a:t>Implement </a:t>
            </a:r>
            <a:r>
              <a:rPr lang="en-PH" sz="1450" b="0" i="0">
                <a:solidFill>
                  <a:srgbClr val="241C1B"/>
                </a:solidFill>
                <a:latin typeface="Segoe UI" panose="020B0502040204020203"/>
              </a:rPr>
              <a:t>facial recognition using ArcFace embeddings for gate scanning.</a:t>
            </a:r>
            <a:endParaRPr lang="en-PH" sz="14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66928" y="3904488"/>
            <a:ext cx="365760" cy="36576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</a:rPr>
              <a:t>2</a:t>
            </a:r>
            <a:endParaRPr sz="15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1024128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PH" sz="1450" b="0" i="0">
                <a:solidFill>
                  <a:srgbClr val="241C1B"/>
                </a:solidFill>
                <a:latin typeface="Segoe UI" panose="020B0502040204020203"/>
              </a:rPr>
              <a:t>Integrate NFC authentication and automated tap-in/tap-out recording for students and staff.</a:t>
            </a:r>
            <a:endParaRPr lang="en-PH" sz="14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66928" y="4498848"/>
            <a:ext cx="365760" cy="36576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</a:rPr>
              <a:t>3</a:t>
            </a:r>
            <a:endParaRPr sz="15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97280" y="4526280"/>
            <a:ext cx="1024128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PH" sz="1450" b="0" i="0">
                <a:solidFill>
                  <a:srgbClr val="241C1B"/>
                </a:solidFill>
                <a:latin typeface="Segoe UI" panose="020B0502040204020203"/>
              </a:rPr>
              <a:t>Enable real-time monitoring and report generation for security personnel and administrators.</a:t>
            </a:r>
            <a:r>
              <a:rPr sz="1450" b="0" i="0">
                <a:solidFill>
                  <a:srgbClr val="241C1B"/>
                </a:solidFill>
                <a:latin typeface="Segoe UI" panose="020B0502040204020203"/>
              </a:rPr>
              <a:t>.</a:t>
            </a:r>
            <a:endParaRPr sz="14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6928" y="5093208"/>
            <a:ext cx="365760" cy="36576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</a:rPr>
              <a:t>4</a:t>
            </a:r>
            <a:endParaRPr sz="15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512064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41C1B"/>
                </a:solidFill>
                <a:latin typeface="Segoe UI" panose="020B0502040204020203"/>
              </a:rPr>
              <a:t>Build a role-based admin dashboard for live monitoring, user enrollment, and reporting.</a:t>
            </a:r>
            <a:endParaRPr sz="14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66928" y="5687568"/>
            <a:ext cx="365760" cy="36576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</a:rPr>
              <a:t>5</a:t>
            </a:r>
            <a:endParaRPr sz="15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" y="5715000"/>
            <a:ext cx="10241280" cy="25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41C1B"/>
                </a:solidFill>
                <a:latin typeface="Segoe UI" panose="020B0502040204020203"/>
              </a:rPr>
              <a:t>Evaluate the system</a:t>
            </a:r>
            <a:r>
              <a:rPr lang="en-PH" sz="1450" b="0" i="0">
                <a:solidFill>
                  <a:srgbClr val="241C1B"/>
                </a:solidFill>
                <a:latin typeface="Segoe UI" panose="020B0502040204020203"/>
              </a:rPr>
              <a:t> in terms of functionality, usability, reliability, and performance.</a:t>
            </a:r>
            <a:endParaRPr lang="en-PH" sz="1450" b="0" i="0">
              <a:solidFill>
                <a:srgbClr val="241C1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BOUNDARIES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Scope &amp; Limitations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OBJECTIVES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06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6235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5623560" cy="566928"/>
          </a:xfrm>
          <a:prstGeom prst="roundRect">
            <a:avLst>
              <a:gd name="adj" fmla="val 5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83080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100">
                <a:solidFill>
                  <a:srgbClr val="FFFFFF"/>
                </a:solidFill>
                <a:latin typeface="Segoe UI Semibold" panose="020B0702040204020203"/>
              </a:rPr>
              <a:t>IN SCOPE</a:t>
            </a:r>
            <a:endParaRPr sz="1400" b="1" i="0" spc="10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41248" y="26517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542032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Continuous face-scan entry/exit logging per gate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41248" y="32186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3108960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NFC tap + manual ID fallback verification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41248" y="37856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675888"/>
            <a:ext cx="4782312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Passive liveness detection </a:t>
            </a:r>
            <a:r>
              <a:rPr lang="en-PH" sz="1350" b="0" i="0">
                <a:solidFill>
                  <a:srgbClr val="241C1B"/>
                </a:solidFill>
                <a:latin typeface="Segoe UI" panose="020B0502040204020203"/>
              </a:rPr>
              <a:t>against </a:t>
            </a: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print &amp; screen attacks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41248" y="43525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424281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Student/staff enrollment with guided photo capture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" y="491947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4809744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Live monitoring, logs, and reporting dashboard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1783080"/>
            <a:ext cx="5623560" cy="4160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783080"/>
            <a:ext cx="5623560" cy="566928"/>
          </a:xfrm>
          <a:prstGeom prst="roundRect">
            <a:avLst>
              <a:gd name="adj" fmla="val 5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83080"/>
            <a:ext cx="50749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spc="60">
                <a:solidFill>
                  <a:srgbClr val="FFFFFF"/>
                </a:solidFill>
                <a:latin typeface="Segoe UI Semibold" panose="020B0702040204020203"/>
              </a:rPr>
              <a:t>OUT OF SCOPE / LIMITATIONS</a:t>
            </a:r>
            <a:endParaRPr sz="1400" b="1" i="0" spc="6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37960" y="265176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2542032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No defense against 3D/silicone masks (2D webcam only)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537960" y="321868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0568" y="3108960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Guard-attended design, not an unattended kiosk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37960" y="37856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0568" y="3675888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One camera &amp; fixed direction per gate device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537960" y="43525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0568" y="4242816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Matching thresholds are pre-deployment estimates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37960" y="491947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469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0568" y="4809744"/>
            <a:ext cx="4782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41C1B"/>
                </a:solidFill>
                <a:latin typeface="Segoe UI" panose="020B0502040204020203"/>
              </a:rPr>
              <a:t>Not built to scale to very large student populations yet</a:t>
            </a:r>
            <a:endParaRPr sz="1350" b="0" i="0">
              <a:solidFill>
                <a:srgbClr val="241C1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spc="200">
                <a:solidFill>
                  <a:srgbClr val="F3E2BC"/>
                </a:solidFill>
                <a:latin typeface="Segoe UI Semibold" panose="020B0702040204020203"/>
              </a:rPr>
              <a:t>PART ONE</a:t>
            </a:r>
            <a:endParaRPr sz="2000" b="1" i="0" spc="200">
              <a:solidFill>
                <a:srgbClr val="F3E2BC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 panose="020B0502040204020203"/>
              </a:rPr>
              <a:t>System Design &amp; Architecture</a:t>
            </a:r>
            <a:endParaRPr sz="44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CECF"/>
                </a:solidFill>
                <a:latin typeface="Segoe UI" panose="020B0502040204020203"/>
              </a:rPr>
              <a:t>How the three parts of SecureTap fit together, and the process each scanner follows at the gate.</a:t>
            </a:r>
            <a:endParaRPr sz="1600" b="0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ARCHITECTURE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Three Independent, Cooperating Programs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SYSTEM DESIGN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08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2860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1C1B"/>
                </a:solidFill>
                <a:latin typeface="Segoe UI Semibold" panose="020B0702040204020203"/>
              </a:rPr>
              <a:t>entry-agent</a:t>
            </a:r>
            <a:endParaRPr sz="20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9992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B1113"/>
                </a:solidFill>
                <a:latin typeface="Segoe UI" panose="020B0502040204020203"/>
              </a:rPr>
              <a:t>Guard's PC — camera + NFC reader</a:t>
            </a:r>
            <a:endParaRPr sz="1200" b="1" i="0">
              <a:solidFill>
                <a:srgbClr val="7B1113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401568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Tkinter desktop app · zero ML dependencies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Captures frames &amp; card taps only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886200" y="319125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22860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7B1113"/>
          </a:solidFill>
          <a:ln w="12700">
            <a:solidFill>
              <a:srgbClr val="7B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4608" y="25146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 Semibold" panose="020B0702040204020203"/>
              </a:rPr>
              <a:t>backend</a:t>
            </a:r>
            <a:endParaRPr sz="20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64608" y="29992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9932B"/>
                </a:solidFill>
                <a:latin typeface="Segoe UI" panose="020B0502040204020203"/>
              </a:rPr>
              <a:t>Django REST API + MySQL</a:t>
            </a:r>
            <a:endParaRPr sz="1200" b="1" i="0">
              <a:solidFill>
                <a:srgbClr val="C9932B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64608" y="3401568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Owns the database · runs ALL face recognition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and liveness computation · enforces roles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909560" y="319125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13648" y="22860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8" y="25146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1C1B"/>
                </a:solidFill>
                <a:latin typeface="Segoe UI Semibold" panose="020B0702040204020203"/>
              </a:rPr>
              <a:t>dashboard</a:t>
            </a:r>
            <a:endParaRPr sz="20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87968" y="2999232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B1113"/>
                </a:solidFill>
                <a:latin typeface="Segoe UI" panose="020B0502040204020203"/>
              </a:rPr>
              <a:t>Browser — admin / security / IT</a:t>
            </a:r>
            <a:endParaRPr sz="1200" b="1" i="0">
              <a:solidFill>
                <a:srgbClr val="7B1113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887968" y="3401568"/>
            <a:ext cx="2697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React web app · live monitoring, user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management, reports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46177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746967"/>
                </a:solidFill>
                <a:latin typeface="Segoe UI" panose="020B0502040204020203"/>
              </a:rPr>
              <a:t>HTTP / JSON  —  polling-based, no WebSocket server needed</a:t>
            </a:r>
            <a:endParaRPr sz="1200" b="0" i="1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6928" y="5074920"/>
            <a:ext cx="11018520" cy="1051560"/>
          </a:xfrm>
          <a:prstGeom prst="roundRect">
            <a:avLst>
              <a:gd name="adj" fmla="val 8000"/>
            </a:avLst>
          </a:prstGeom>
          <a:solidFill>
            <a:srgbClr val="F3E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239512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47090B"/>
                </a:solidFill>
                <a:latin typeface="Segoe UI" panose="020B0502040204020203"/>
              </a:rPr>
              <a:t>Only the backend touches machine learning or the database. The entry-agent and dashboard are thin clients — the gate PC only needs to capture and display, not run a model.</a:t>
            </a:r>
            <a:endParaRPr sz="1400" b="1" i="0">
              <a:solidFill>
                <a:srgbClr val="47090B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SYSTEM DESIGN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08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PROCESS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Camera Scanner — Step by Step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SYSTEM DESIGN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09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1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41C1B"/>
                </a:solidFill>
                <a:latin typeface="Segoe UI Semibold" panose="020B0702040204020203"/>
              </a:rPr>
              <a:t>Capture</a:t>
            </a:r>
            <a:endParaRPr sz="12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746967"/>
                </a:solidFill>
                <a:latin typeface="Segoe UI" panose="020B0502040204020203"/>
              </a:rPr>
              <a:t>Frame grabbed every 0.2s</a:t>
            </a:r>
            <a:endParaRPr sz="9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993392" y="275691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77440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2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0592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41C1B"/>
                </a:solidFill>
                <a:latin typeface="Segoe UI Semibold" panose="020B0702040204020203"/>
              </a:rPr>
              <a:t>Detect</a:t>
            </a:r>
            <a:endParaRPr sz="12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50592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746967"/>
                </a:solidFill>
                <a:latin typeface="Segoe UI" panose="020B0502040204020203"/>
              </a:rPr>
              <a:t>Every face found in-frame</a:t>
            </a:r>
            <a:endParaRPr sz="9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3950208" y="275691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34256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3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07408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41C1B"/>
                </a:solidFill>
                <a:latin typeface="Segoe UI Semibold" panose="020B0702040204020203"/>
              </a:rPr>
              <a:t>Quality Gate</a:t>
            </a:r>
            <a:endParaRPr sz="12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746967"/>
                </a:solidFill>
                <a:latin typeface="Segoe UI" panose="020B0502040204020203"/>
              </a:rPr>
              <a:t>Skip blur / edge-cropped</a:t>
            </a:r>
            <a:endParaRPr sz="9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5907024" y="275691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91072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7B1113"/>
          </a:solidFill>
          <a:ln w="12700">
            <a:solidFill>
              <a:srgbClr val="7B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4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 Semibold" panose="020B0702040204020203"/>
              </a:rPr>
              <a:t>Liveness Check</a:t>
            </a:r>
            <a:endParaRPr sz="125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4224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F1CECF"/>
                </a:solidFill>
                <a:latin typeface="Segoe UI" panose="020B0502040204020203"/>
              </a:rPr>
              <a:t>Real face, or spoof?</a:t>
            </a:r>
            <a:endParaRPr sz="9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7863840" y="275691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47888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47888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5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40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41C1B"/>
                </a:solidFill>
                <a:latin typeface="Segoe UI Semibold" panose="020B0702040204020203"/>
              </a:rPr>
              <a:t>Match</a:t>
            </a:r>
            <a:endParaRPr sz="12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21040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746967"/>
                </a:solidFill>
                <a:latin typeface="Segoe UI" panose="020B0502040204020203"/>
              </a:rPr>
              <a:t>Compare vs. enrolled faces</a:t>
            </a:r>
            <a:endParaRPr sz="9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2" name="Right Arrow 31"/>
          <p:cNvSpPr/>
          <p:nvPr/>
        </p:nvSpPr>
        <p:spPr>
          <a:xfrm>
            <a:off x="9820656" y="275691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204704" y="2148840"/>
            <a:ext cx="15727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04704" y="2276856"/>
            <a:ext cx="15727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9932B"/>
                </a:solidFill>
                <a:latin typeface="Segoe UI Light" panose="020B0502040204020203"/>
              </a:rPr>
              <a:t>6</a:t>
            </a:r>
            <a:endParaRPr sz="15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277856" y="2624328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241C1B"/>
                </a:solidFill>
                <a:latin typeface="Segoe UI Semibold" panose="020B0702040204020203"/>
              </a:rPr>
              <a:t>Vote &amp; Log</a:t>
            </a:r>
            <a:endParaRPr sz="12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277856" y="3090672"/>
            <a:ext cx="142646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746967"/>
                </a:solidFill>
                <a:latin typeface="Segoe UI" panose="020B0502040204020203"/>
              </a:rPr>
              <a:t>Confirm across frames</a:t>
            </a:r>
            <a:endParaRPr sz="9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3977639"/>
            <a:ext cx="82296" cy="16002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977639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If a face fails the liveness check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22960" y="4480559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Routed to spoof-vote tracking, not identity matching — flagged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as SPOOF SUSPECTED, distinct from a routine unmatched face.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315968" y="3977639"/>
            <a:ext cx="82296" cy="16002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3977639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If a match is ambiguous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72000" y="4480559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Two close candidates, or a borderline score, opens a 10-second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"tap your card to confirm" tiebreak window instead of guessing.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065008" y="3977639"/>
            <a:ext cx="82296" cy="16002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977639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Nothing is logged from one frame alone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321040" y="4480559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A result needs to be the consistent answer across several recent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scans before it's written as a permanent record or triggers an alarm.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PROCESS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Card Scanner — Step by Step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SYSTEM DESIGN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10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9536" y="1965960"/>
            <a:ext cx="23317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30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9932B"/>
                </a:solidFill>
                <a:latin typeface="Segoe UI Light" panose="020B0502040204020203"/>
              </a:rPr>
              <a:t>1</a:t>
            </a:r>
            <a:endParaRPr sz="18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9264" y="2587752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Tap / Type ID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9264" y="3017520"/>
            <a:ext cx="211226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HID card tap, or manual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ID entry fallback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3191256" y="273405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75304" y="1965960"/>
            <a:ext cx="23317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2130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9932B"/>
                </a:solidFill>
                <a:latin typeface="Segoe UI Light" panose="020B0502040204020203"/>
              </a:rPr>
              <a:t>2</a:t>
            </a:r>
            <a:endParaRPr sz="18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85032" y="2587752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Lookup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5032" y="3017520"/>
            <a:ext cx="211226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Match against enrolled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student/staff record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5907024" y="273405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1072" y="1965960"/>
            <a:ext cx="23317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130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9932B"/>
                </a:solidFill>
                <a:latin typeface="Segoe UI Light" panose="020B0502040204020203"/>
              </a:rPr>
              <a:t>3</a:t>
            </a:r>
            <a:endParaRPr sz="18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2587752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Tiebreak Check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211226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Resolves a pending face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tiebreak, if one is open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8622792" y="2734056"/>
            <a:ext cx="384048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6840" y="1965960"/>
            <a:ext cx="233172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06840" y="21305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C9932B"/>
                </a:solidFill>
                <a:latin typeface="Segoe UI Light" panose="020B0502040204020203"/>
              </a:rPr>
              <a:t>4</a:t>
            </a:r>
            <a:endParaRPr sz="1800" b="1" i="0">
              <a:solidFill>
                <a:srgbClr val="C9932B"/>
              </a:solidFill>
              <a:latin typeface="Segoe UI Light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16568" y="2587752"/>
            <a:ext cx="21122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Log &amp; Display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16568" y="3017520"/>
            <a:ext cx="2112264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Full profile card shown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ctr">
              <a:lnSpc>
                <a:spcPct val="12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for a visual cross-check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6928" y="416052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8" y="4361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2EA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" y="43616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 panose="020B0702040204020203"/>
              </a:rPr>
              <a:t>Success</a:t>
            </a:r>
            <a:endParaRPr sz="11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95528" y="484632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Enrolled + active → full profile card, logged as a successful entry/exit.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315968" y="416052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44568" y="4361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43616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 panose="020B0702040204020203"/>
              </a:rPr>
              <a:t>Not Registered</a:t>
            </a:r>
            <a:endParaRPr sz="11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44568" y="484632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No matching student/staff record for that card or ID.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65008" y="4160520"/>
            <a:ext cx="35661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93608" y="4361688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C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8" y="436168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 Semibold" panose="020B0702040204020203"/>
              </a:rPr>
              <a:t>Deactivated</a:t>
            </a:r>
            <a:endParaRPr sz="11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93608" y="4846320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Record exists but has been deactivated by an admin.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spc="200">
                <a:solidFill>
                  <a:srgbClr val="F3E2BC"/>
                </a:solidFill>
                <a:latin typeface="Segoe UI Semibold" panose="020B0702040204020203"/>
              </a:rPr>
              <a:t>PART TWO</a:t>
            </a:r>
            <a:endParaRPr sz="2000" b="1" i="0" spc="200">
              <a:solidFill>
                <a:srgbClr val="F3E2BC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 panose="020B0502040204020203"/>
              </a:rPr>
              <a:t>Core Technical Contributions</a:t>
            </a:r>
            <a:endParaRPr sz="44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CECF"/>
                </a:solidFill>
                <a:latin typeface="Segoe UI" panose="020B0502040204020203"/>
              </a:rPr>
              <a:t>The three ideas that make SecureTap more than a card reader with a camera bolted on.</a:t>
            </a:r>
            <a:endParaRPr sz="1600" b="0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INNOVATION 01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Continuous 1:N Face Recognition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CORE CONTRIBUTIONS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12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46967"/>
                </a:solidFill>
                <a:latin typeface="Segoe UI" panose="020B0502040204020203"/>
              </a:rPr>
              <a:t>Not a stop-and-pose kiosk — the camera watches the gate continuously, identifying every face in frame, every ~0.2 seconds.</a:t>
            </a:r>
            <a:endParaRPr sz="16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7B1113"/>
                </a:solidFill>
                <a:latin typeface="Segoe UI Semibold" panose="020B0702040204020203"/>
              </a:rPr>
              <a:t>512-D</a:t>
            </a:r>
            <a:endParaRPr sz="24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377647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ArcFace embedding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per face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58568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7B1113"/>
                </a:solidFill>
                <a:latin typeface="Segoe UI Semibold" panose="020B0702040204020203"/>
              </a:rPr>
              <a:t>~5 fps</a:t>
            </a:r>
            <a:endParaRPr sz="24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8568" y="377647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Continuous scan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rate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50208" y="324612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7B1113"/>
                </a:solidFill>
                <a:latin typeface="Segoe UI Semibold" panose="020B0702040204020203"/>
              </a:rPr>
              <a:t>buffalo_s</a:t>
            </a:r>
            <a:endParaRPr sz="24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0208" y="377647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Lightweight CPU-only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model pack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63640" y="178308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011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B1113"/>
                </a:solidFill>
                <a:latin typeface="Segoe UI Semibold" panose="020B0702040204020203"/>
              </a:rPr>
              <a:t>How matching works</a:t>
            </a:r>
            <a:endParaRPr sz="14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0" y="260604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496312"/>
            <a:ext cx="4187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1C1B"/>
                </a:solidFill>
                <a:latin typeface="Segoe UI" panose="020B0502040204020203"/>
              </a:rPr>
              <a:t>Face detected → 512-d embedding computed (InsightFace / ArcFace)</a:t>
            </a:r>
            <a:endParaRPr sz="12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583680" y="326440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154680"/>
            <a:ext cx="4187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1C1B"/>
                </a:solidFill>
                <a:latin typeface="Segoe UI" panose="020B0502040204020203"/>
              </a:rPr>
              <a:t>Compared via cosine similarity against every enrolled person's stored embeddings — one vectorized operation</a:t>
            </a:r>
            <a:endParaRPr sz="12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0" y="392277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3813048"/>
            <a:ext cx="4187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1C1B"/>
                </a:solidFill>
                <a:latin typeface="Segoe UI" panose="020B0502040204020203"/>
              </a:rPr>
              <a:t>Best match wins, if above FACE_MATCH_SIMILARITY_THRESHOLD</a:t>
            </a:r>
            <a:endParaRPr sz="125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0" y="458114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4471416"/>
            <a:ext cx="41879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1C1B"/>
                </a:solidFill>
                <a:latin typeface="Segoe UI" panose="020B0502040204020203"/>
              </a:rPr>
              <a:t>A person can enroll up to 5 embeddings (multiple angles) — best of the 5 counts</a:t>
            </a:r>
            <a:endParaRPr sz="1250" b="0" i="0">
              <a:solidFill>
                <a:srgbClr val="241C1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INNOVATION 02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Passive Anti-Spoofing on a Standard Webcam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CORE CONTRIBUTIONS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13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746967"/>
                </a:solidFill>
                <a:latin typeface="Segoe UI" panose="020B0502040204020203"/>
              </a:rPr>
              <a:t>No depth or infrared sensor is assumed — this had to work on the same 2D webcam already used for recognition. Two independent signals combine into one score.</a:t>
            </a:r>
            <a:endParaRPr sz="15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60604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7B1113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803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47090B"/>
                </a:solidFill>
                <a:latin typeface="Segoe UI Semibold" panose="020B0702040204020203"/>
              </a:rPr>
              <a:t>PRIMARY · 65%</a:t>
            </a:r>
            <a:endParaRPr sz="1100" b="1" i="0">
              <a:solidFill>
                <a:srgbClr val="47090B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968" y="34290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Segoe UI Semibold" panose="020B0702040204020203"/>
              </a:rPr>
              <a:t>MiniFASNetV2</a:t>
            </a:r>
            <a:endParaRPr sz="22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3E2BC"/>
                </a:solidFill>
                <a:latin typeface="Segoe UI" panose="020B0502040204020203"/>
              </a:rPr>
              <a:t>Trained CNN · Minivision AI · Apache-2.0</a:t>
            </a:r>
            <a:endParaRPr sz="1200" b="1" i="0">
              <a:solidFill>
                <a:srgbClr val="F3E2BC"/>
              </a:solidFill>
              <a:latin typeface="Segoe UI" panose="020B0502040204020203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68" y="4517136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Classifies an 80×80 face crop as live / print-attack / replay-attack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6968" y="5065776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Trained specifically on print &amp; screen spoof data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86968" y="5614416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5321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From-source ONNX export — official weights hash-verified,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F1CECF"/>
                </a:solidFill>
                <a:latin typeface="Segoe UI" panose="020B0502040204020203"/>
              </a:rPr>
              <a:t>numerically matched to PyTorch (diff &lt; 1.4×10⁻⁶)</a:t>
            </a:r>
            <a:endParaRPr sz="11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2606040"/>
            <a:ext cx="53492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3680" y="28803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1CE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7B1113"/>
                </a:solidFill>
                <a:latin typeface="Segoe UI Semibold" panose="020B0702040204020203"/>
              </a:rPr>
              <a:t>SECONDARY · 35%</a:t>
            </a:r>
            <a:endParaRPr sz="11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80" y="34290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41C1B"/>
                </a:solidFill>
                <a:latin typeface="Segoe UI Semibold" panose="020B0702040204020203"/>
              </a:rPr>
              <a:t>Classical CV Cues</a:t>
            </a:r>
            <a:endParaRPr sz="22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746967"/>
                </a:solidFill>
                <a:latin typeface="Segoe UI" panose="020B0502040204020203"/>
              </a:rPr>
              <a:t>Texture · Frequency · Reflectance analysis</a:t>
            </a:r>
            <a:endParaRPr sz="120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0" y="4517136"/>
            <a:ext cx="82296" cy="82296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44348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Local Binary Patterns — real skin micro-texture vs. flat print/screen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83680" y="5065776"/>
            <a:ext cx="82296" cy="82296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498348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2D FFT — catches halftone dot &amp; screen moiré patterns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583680" y="5614416"/>
            <a:ext cx="82296" cy="82296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93992" y="55321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HSV reflectance — screens/glossy prints reflect light differently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746967"/>
                </a:solidFill>
                <a:latin typeface="Segoe UI" panose="020B0502040204020203"/>
              </a:rPr>
              <a:t>than skin</a:t>
            </a:r>
            <a:endParaRPr sz="11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6928" y="6108192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746967"/>
                </a:solidFill>
                <a:latin typeface="Segoe UI" panose="020B0502040204020203"/>
              </a:rPr>
              <a:t>Also serves as the automatic fallback if the trained model is ever unavailable — the check never hard-fails.</a:t>
            </a:r>
            <a:endParaRPr sz="1150" b="0" i="1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INNOVATION 02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Verified Against Real Spoof Attempts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CORE CONTRIBUTIONS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14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746967"/>
                </a:solidFill>
                <a:latin typeface="Segoe UI" panose="020B0502040204020203"/>
              </a:rPr>
              <a:t>Tested end-to-end — real face detection, the model's own crop convention, and the exported model — against labeled real &amp; spoof sample photos.</a:t>
            </a:r>
            <a:endParaRPr sz="15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6060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606040"/>
            <a:ext cx="3520440" cy="73152"/>
          </a:xfrm>
          <a:prstGeom prst="rect">
            <a:avLst/>
          </a:prstGeom>
          <a:solidFill>
            <a:srgbClr val="2EA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86207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746967"/>
                </a:solidFill>
                <a:latin typeface="Segoe UI Semibold" panose="020B0702040204020203"/>
              </a:rPr>
              <a:t>REAL FACE</a:t>
            </a:r>
            <a:endParaRPr sz="1150" b="1" i="0" spc="6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" y="3227832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2EA158"/>
                </a:solidFill>
                <a:latin typeface="Segoe UI Light" panose="020B0502040204020203"/>
              </a:rPr>
              <a:t>99.97%</a:t>
            </a:r>
            <a:endParaRPr sz="3800" b="1" i="0">
              <a:solidFill>
                <a:srgbClr val="2EA158"/>
              </a:solidFill>
              <a:latin typeface="Segoe UI Light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8" y="405079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41C1B"/>
                </a:solidFill>
                <a:latin typeface="Segoe UI" panose="020B0502040204020203"/>
              </a:rPr>
              <a:t>correctly scored LIVE</a:t>
            </a:r>
            <a:endParaRPr sz="12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70248" y="26060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606040"/>
            <a:ext cx="3520440" cy="73152"/>
          </a:xfrm>
          <a:prstGeom prst="rect">
            <a:avLst/>
          </a:prstGeom>
          <a:solidFill>
            <a:srgbClr val="C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86207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746967"/>
                </a:solidFill>
                <a:latin typeface="Segoe UI Semibold" panose="020B0702040204020203"/>
              </a:rPr>
              <a:t>SPOOF PHOTO #1</a:t>
            </a:r>
            <a:endParaRPr sz="1150" b="1" i="0" spc="6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44568" y="3227832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83B3B"/>
                </a:solidFill>
                <a:latin typeface="Segoe UI Light" panose="020B0502040204020203"/>
              </a:rPr>
              <a:t>0.81%</a:t>
            </a:r>
            <a:endParaRPr sz="3800" b="1" i="0">
              <a:solidFill>
                <a:srgbClr val="C83B3B"/>
              </a:solidFill>
              <a:latin typeface="Segoe UI Light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44568" y="405079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41C1B"/>
                </a:solidFill>
                <a:latin typeface="Segoe UI" panose="020B0502040204020203"/>
              </a:rPr>
              <a:t>correctly scored SPOOF</a:t>
            </a:r>
            <a:endParaRPr sz="12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73568" y="2606040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73568" y="2606040"/>
            <a:ext cx="3520440" cy="73152"/>
          </a:xfrm>
          <a:prstGeom prst="rect">
            <a:avLst/>
          </a:prstGeom>
          <a:solidFill>
            <a:srgbClr val="C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86207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spc="60">
                <a:solidFill>
                  <a:srgbClr val="746967"/>
                </a:solidFill>
                <a:latin typeface="Segoe UI Semibold" panose="020B0702040204020203"/>
              </a:rPr>
              <a:t>SPOOF PHOTO #2</a:t>
            </a:r>
            <a:endParaRPr sz="1150" b="1" i="0" spc="6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47888" y="3227832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83B3B"/>
                </a:solidFill>
                <a:latin typeface="Segoe UI Light" panose="020B0502040204020203"/>
              </a:rPr>
              <a:t>0.07%</a:t>
            </a:r>
            <a:endParaRPr sz="3800" b="1" i="0">
              <a:solidFill>
                <a:srgbClr val="C83B3B"/>
              </a:solidFill>
              <a:latin typeface="Segoe UI Light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47888" y="405079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41C1B"/>
                </a:solidFill>
                <a:latin typeface="Segoe UI" panose="020B0502040204020203"/>
              </a:rPr>
              <a:t>correctly scored SPOOF</a:t>
            </a:r>
            <a:endParaRPr sz="12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66928" y="4892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932B"/>
                </a:solidFill>
                <a:latin typeface="Segoe UI Semibold" panose="020B0702040204020203"/>
              </a:rPr>
              <a:t>Measured performance</a:t>
            </a:r>
            <a:endParaRPr sz="1400" b="1" i="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5303520"/>
            <a:ext cx="23774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B1113"/>
                </a:solidFill>
                <a:latin typeface="Segoe UI Semibold" panose="020B0702040204020203"/>
              </a:rPr>
              <a:t>~2.3 ms</a:t>
            </a:r>
            <a:endParaRPr sz="22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35808" y="535838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46967"/>
                </a:solidFill>
                <a:latin typeface="Segoe UI" panose="020B0502040204020203"/>
              </a:rPr>
              <a:t>per-face liveness scoring time (warm)</a:t>
            </a:r>
            <a:endParaRPr sz="13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90488" y="5303520"/>
            <a:ext cx="237744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7B1113"/>
                </a:solidFill>
                <a:latin typeface="Segoe UI Semibold" panose="020B0702040204020203"/>
              </a:rPr>
              <a:t>~400-900 ms</a:t>
            </a:r>
            <a:endParaRPr sz="22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59368" y="5358384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746967"/>
                </a:solidFill>
                <a:latin typeface="Segoe UI" panose="020B0502040204020203"/>
              </a:rPr>
              <a:t>ArcFace inference already dominates each cycle</a:t>
            </a:r>
            <a:endParaRPr sz="13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66928" y="6035040"/>
            <a:ext cx="11018520" cy="411480"/>
          </a:xfrm>
          <a:prstGeom prst="roundRect">
            <a:avLst>
              <a:gd name="adj" fmla="val 15000"/>
            </a:avLst>
          </a:prstGeom>
          <a:solidFill>
            <a:srgbClr val="F3E2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60350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7090B"/>
                </a:solidFill>
                <a:latin typeface="Segoe UI" panose="020B0502040204020203"/>
              </a:rPr>
              <a:t>Net effect: liveness detection adds negligible latency to the gate scan.</a:t>
            </a:r>
            <a:endParaRPr sz="1250" b="1" i="0">
              <a:solidFill>
                <a:srgbClr val="47090B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INNOVATION 03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Face + NFC — Complementary, Not Redundant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CORE CONTRIBUTIONS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15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746967"/>
                </a:solidFill>
                <a:latin typeface="Segoe UI" panose="020B0502040204020203"/>
              </a:rPr>
              <a:t>The NFC card isn't a second copy of the same check — it resolves exactly the cases face recognition alone can't decide.</a:t>
            </a:r>
            <a:endParaRPr sz="15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560320"/>
            <a:ext cx="265176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2EA1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2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3429000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Clear match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40"/>
            <a:ext cx="21396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Confirmed automatically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52628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46967"/>
                </a:solidFill>
                <a:latin typeface="Segoe UI Semibold" panose="020B0702040204020203"/>
              </a:rPr>
              <a:t>face_only</a:t>
            </a:r>
            <a:endParaRPr sz="850" b="1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46704" y="2560320"/>
            <a:ext cx="265176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2736" y="2816352"/>
            <a:ext cx="457200" cy="457200"/>
          </a:xfrm>
          <a:prstGeom prst="ellipse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2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02736" y="3429000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Ambiguous match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02736" y="3977640"/>
            <a:ext cx="21396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Card tap breaks the tie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(10s window)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02736" y="452628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45262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46967"/>
                </a:solidFill>
                <a:latin typeface="Segoe UI Semibold" panose="020B0702040204020203"/>
              </a:rPr>
              <a:t>face_and_card_tiebreak</a:t>
            </a:r>
            <a:endParaRPr sz="850" b="1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26480" y="2560320"/>
            <a:ext cx="265176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816352"/>
            <a:ext cx="457200" cy="457200"/>
          </a:xfrm>
          <a:prstGeom prst="ellipse">
            <a:avLst/>
          </a:prstGeom>
          <a:solidFill>
            <a:srgbClr val="C8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2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82512" y="3429000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No match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82512" y="3977640"/>
            <a:ext cx="21396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Logged as unrecognized,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photo captured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382512" y="452628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45262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46967"/>
                </a:solidFill>
                <a:latin typeface="Segoe UI Semibold" panose="020B0702040204020203"/>
              </a:rPr>
              <a:t>face_only (failed)</a:t>
            </a:r>
            <a:endParaRPr sz="850" b="1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906256" y="2560320"/>
            <a:ext cx="2651760" cy="2331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62288" y="2816352"/>
            <a:ext cx="457200" cy="457200"/>
          </a:xfrm>
          <a:prstGeom prst="ellipse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sz="22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62288" y="3429000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41C1B"/>
                </a:solidFill>
                <a:latin typeface="Segoe UI Semibold" panose="020B0702040204020203"/>
              </a:rPr>
              <a:t>Suspected spoof</a:t>
            </a:r>
            <a:endParaRPr sz="145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62288" y="3977640"/>
            <a:ext cx="2139696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Flagged distinctly —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746967"/>
                </a:solidFill>
                <a:latin typeface="Segoe UI" panose="020B0502040204020203"/>
              </a:rPr>
              <a:t>not a routine miss</a:t>
            </a:r>
            <a:endParaRPr sz="11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9162288" y="4526280"/>
            <a:ext cx="2139696" cy="292608"/>
          </a:xfrm>
          <a:prstGeom prst="roundRect">
            <a:avLst>
              <a:gd name="adj" fmla="val 50000"/>
            </a:avLst>
          </a:prstGeom>
          <a:solidFill>
            <a:srgbClr val="F7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62288" y="4526280"/>
            <a:ext cx="2139696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746967"/>
                </a:solidFill>
                <a:latin typeface="Segoe UI Semibold" panose="020B0702040204020203"/>
              </a:rPr>
              <a:t>spoof_suspected</a:t>
            </a:r>
            <a:endParaRPr sz="850" b="1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" y="5257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932B"/>
                </a:solidFill>
                <a:latin typeface="Segoe UI Semibold" panose="020B0702040204020203"/>
              </a:rPr>
              <a:t>Also stands alone</a:t>
            </a:r>
            <a:endParaRPr sz="1400" b="1" i="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66928" y="56235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746967"/>
                </a:solidFill>
                <a:latin typeface="Segoe UI" panose="020B0502040204020203"/>
              </a:rPr>
              <a:t>A plain NFC tap or manual ID entry works as an independent verification path too — for routine spot checks or whenever using the camera isn't practical.</a:t>
            </a:r>
            <a:endParaRPr sz="1350" b="0" i="0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RELIABILITY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One Frame Is Never Enough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CORE CONTRIBUTIONS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16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46967"/>
                </a:solidFill>
                <a:latin typeface="Segoe UI" panose="020B0502040204020203"/>
              </a:rPr>
              <a:t>Matches, non-matches, AND spoof suspicions all go through the same multi-frame majority vote before becoming a permanent record.</a:t>
            </a:r>
            <a:endParaRPr sz="16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1248" y="2743200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A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9077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746967"/>
                </a:solidFill>
                <a:latin typeface="Segoe UI" panose="020B0502040204020203"/>
              </a:rPr>
              <a:t>Frame 1</a:t>
            </a:r>
            <a:endParaRPr sz="105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20040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158"/>
                </a:solidFill>
                <a:latin typeface="Segoe UI" panose="020B0502040204020203"/>
              </a:rPr>
              <a:t>✓</a:t>
            </a:r>
            <a:endParaRPr sz="2200" b="1" i="0">
              <a:solidFill>
                <a:srgbClr val="2EA158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87168" y="2743200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7168" y="29077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746967"/>
                </a:solidFill>
                <a:latin typeface="Segoe UI" panose="020B0502040204020203"/>
              </a:rPr>
              <a:t>Frame 2</a:t>
            </a:r>
            <a:endParaRPr sz="105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87168" y="320040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746967"/>
                </a:solidFill>
                <a:latin typeface="Segoe UI" panose="020B0502040204020203"/>
              </a:rPr>
              <a:t>?</a:t>
            </a:r>
            <a:endParaRPr sz="220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133088" y="2743200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A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8" y="29077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746967"/>
                </a:solidFill>
                <a:latin typeface="Segoe UI" panose="020B0502040204020203"/>
              </a:rPr>
              <a:t>Frame 3</a:t>
            </a:r>
            <a:endParaRPr sz="105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33088" y="320040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158"/>
                </a:solidFill>
                <a:latin typeface="Segoe UI" panose="020B0502040204020203"/>
              </a:rPr>
              <a:t>✓</a:t>
            </a:r>
            <a:endParaRPr sz="2200" b="1" i="0">
              <a:solidFill>
                <a:srgbClr val="2EA158"/>
              </a:solidFill>
              <a:latin typeface="Segoe UI" panose="020B0502040204020203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79008" y="2743200"/>
            <a:ext cx="141732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EA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9077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746967"/>
                </a:solidFill>
                <a:latin typeface="Segoe UI" panose="020B0502040204020203"/>
              </a:rPr>
              <a:t>Frame 4</a:t>
            </a:r>
            <a:endParaRPr sz="1050" b="1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79008" y="320040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A158"/>
                </a:solidFill>
                <a:latin typeface="Segoe UI" panose="020B0502040204020203"/>
              </a:rPr>
              <a:t>✓</a:t>
            </a:r>
            <a:endParaRPr sz="2200" b="1" i="0">
              <a:solidFill>
                <a:srgbClr val="2EA158"/>
              </a:solidFill>
              <a:latin typeface="Segoe UI" panose="020B0502040204020203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424928" y="3154680"/>
            <a:ext cx="457200" cy="201168"/>
          </a:xfrm>
          <a:prstGeom prst="rightArrow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19288" y="2743200"/>
            <a:ext cx="2194560" cy="1005840"/>
          </a:xfrm>
          <a:prstGeom prst="roundRect">
            <a:avLst>
              <a:gd name="adj" fmla="val 12000"/>
            </a:avLst>
          </a:prstGeom>
          <a:solidFill>
            <a:srgbClr val="7B1113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2907792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3E2BC"/>
                </a:solidFill>
                <a:latin typeface="Segoe UI" panose="020B0502040204020203"/>
              </a:rPr>
              <a:t>3 of 4 agree</a:t>
            </a:r>
            <a:endParaRPr sz="1100" b="1" i="0">
              <a:solidFill>
                <a:srgbClr val="F3E2BC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9288" y="324612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 Semibold" panose="020B0702040204020203"/>
              </a:rPr>
              <a:t>CONFIRMED</a:t>
            </a:r>
            <a:endParaRPr sz="15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66928" y="420624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4074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B1113"/>
                </a:solidFill>
                <a:latin typeface="Segoe UI Semibold" panose="020B0702040204020203"/>
              </a:rPr>
              <a:t>4</a:t>
            </a:r>
            <a:endParaRPr sz="30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1248" y="501091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1C1B"/>
                </a:solidFill>
                <a:latin typeface="Segoe UI Semibold" panose="020B0702040204020203"/>
              </a:rPr>
              <a:t>VOTE_WINDOW_SIZE</a:t>
            </a:r>
            <a:endParaRPr sz="11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1248" y="526694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recent attempts considered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270248" y="420624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44074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B1113"/>
                </a:solidFill>
                <a:latin typeface="Segoe UI Semibold" panose="020B0702040204020203"/>
              </a:rPr>
              <a:t>2</a:t>
            </a:r>
            <a:endParaRPr sz="30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44568" y="501091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1C1B"/>
                </a:solidFill>
                <a:latin typeface="Segoe UI Semibold" panose="020B0702040204020203"/>
              </a:rPr>
              <a:t>VOTE_REQUIRED_AGREEMENT</a:t>
            </a:r>
            <a:endParaRPr sz="11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44568" y="526694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must agree to confirm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973568" y="4206240"/>
            <a:ext cx="36118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7888" y="440740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7B1113"/>
                </a:solidFill>
                <a:latin typeface="Segoe UI Semibold" panose="020B0702040204020203"/>
              </a:rPr>
              <a:t>4s</a:t>
            </a:r>
            <a:endParaRPr sz="3000" b="1" i="0">
              <a:solidFill>
                <a:srgbClr val="7B1113"/>
              </a:solidFill>
              <a:latin typeface="Segoe UI Semibold" panose="020B0702040204020203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47888" y="501091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41C1B"/>
                </a:solidFill>
                <a:latin typeface="Segoe UI Semibold" panose="020B0702040204020203"/>
              </a:rPr>
              <a:t>VOTE_WINDOW_SECONDS</a:t>
            </a:r>
            <a:endParaRPr sz="11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47888" y="5266944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6967"/>
                </a:solidFill>
                <a:latin typeface="Segoe UI" panose="020B0502040204020203"/>
              </a:rPr>
              <a:t>time window for those attempts</a:t>
            </a:r>
            <a:endParaRPr sz="10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746967"/>
                </a:solidFill>
                <a:latin typeface="Segoe UI" panose="020B0502040204020203"/>
              </a:rPr>
              <a:t>Result: one bad frame can't wrongly flag a real student as Unknown or as a spoof — and one lucky frame can't wrongly confirm a stranger.</a:t>
            </a:r>
            <a:endParaRPr sz="1250" b="0" i="1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 spc="200">
                <a:solidFill>
                  <a:srgbClr val="F3E2BC"/>
                </a:solidFill>
                <a:latin typeface="Segoe UI Semibold" panose="020B0702040204020203"/>
              </a:rPr>
              <a:t>PART THREE</a:t>
            </a:r>
            <a:endParaRPr sz="2000" b="1" i="0" spc="200">
              <a:solidFill>
                <a:srgbClr val="F3E2BC"/>
              </a:solidFill>
              <a:latin typeface="Segoe UI Semibold" panose="020B07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 panose="020B0502040204020203"/>
              </a:rPr>
              <a:t>Platform, Privacy &amp; Results</a:t>
            </a:r>
            <a:endParaRPr sz="44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1CECF"/>
                </a:solidFill>
                <a:latin typeface="Segoe UI" panose="020B0502040204020203"/>
              </a:rPr>
              <a:t>The admin experience, how the system protects data, and what we measured.</a:t>
            </a:r>
            <a:endParaRPr sz="1600" b="0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PLATFORM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Admin Dashboard &amp; Reporting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PLATFORM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18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874519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1C1B"/>
                </a:solidFill>
                <a:latin typeface="Segoe UI Semibold" panose="020B0702040204020203"/>
              </a:rPr>
              <a:t>Live Monitoring</a:t>
            </a:r>
            <a:endParaRPr sz="17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68" y="25603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46967"/>
                </a:solidFill>
                <a:latin typeface="Segoe UI" panose="020B0502040204020203"/>
              </a:rPr>
              <a:t>Real-time photo-grid feed of today's gate activity with method/status badges and confidence.</a:t>
            </a:r>
            <a:endParaRPr sz="12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44768" y="178308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4768" y="1783080"/>
            <a:ext cx="82296" cy="1874519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39112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1C1B"/>
                </a:solidFill>
                <a:latin typeface="Segoe UI Semibold" panose="020B0702040204020203"/>
              </a:rPr>
              <a:t>Logs</a:t>
            </a:r>
            <a:endParaRPr sz="17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4808" y="25603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46967"/>
                </a:solidFill>
                <a:latin typeface="Segoe UI" panose="020B0502040204020203"/>
              </a:rPr>
              <a:t>Filterable, paginated history by date, name, gate, and status — with CSV export.</a:t>
            </a:r>
            <a:endParaRPr sz="12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3840479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840479"/>
            <a:ext cx="82296" cy="1874519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09651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1C1B"/>
                </a:solidFill>
                <a:latin typeface="Segoe UI Semibold" panose="020B0702040204020203"/>
              </a:rPr>
              <a:t>User Management</a:t>
            </a:r>
            <a:endParaRPr sz="17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" y="4617719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46967"/>
                </a:solidFill>
                <a:latin typeface="Segoe UI" panose="020B0502040204020203"/>
              </a:rPr>
              <a:t>Guided 5-shot enrollment with live photo-quality checks, plus bulk CSV/XLSX import.</a:t>
            </a:r>
            <a:endParaRPr sz="125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44768" y="3840479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3840479"/>
            <a:ext cx="82296" cy="1874519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096511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1C1B"/>
                </a:solidFill>
                <a:latin typeface="Segoe UI Semibold" panose="020B0702040204020203"/>
              </a:rPr>
              <a:t>Reports</a:t>
            </a:r>
            <a:endParaRPr sz="1700" b="1" i="0">
              <a:solidFill>
                <a:srgbClr val="241C1B"/>
              </a:solidFill>
              <a:latin typeface="Segoe UI Semibold" panose="020B07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64808" y="4617719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746967"/>
                </a:solidFill>
                <a:latin typeface="Segoe UI" panose="020B0502040204020203"/>
              </a:rPr>
              <a:t>Entries by method, confidence histogram, busiest hours, and a preliminary FAR/FRR curve.</a:t>
            </a:r>
            <a:endParaRPr sz="1250" b="0" i="0">
              <a:solidFill>
                <a:srgbClr val="74696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TRUST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Data Privacy &amp; Security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PLATFORM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19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7452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83080"/>
            <a:ext cx="510235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Embeddings, not photos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Biometric matching is stored as 512-d vectors — not raw face images — specifically to reduce biometric exposure.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28712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779776"/>
            <a:ext cx="510235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bcrypt + JWT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Dashboard passwords hashed with bcrypt; sessions use short-lived, rotated JWT tokens.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86791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776472"/>
            <a:ext cx="5102352" cy="822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350" b="1" i="0">
                <a:solidFill>
                  <a:srgbClr val="241C1B"/>
                </a:solidFill>
                <a:latin typeface="Segoe UI Semibold" panose="020B0702040204020203"/>
              </a:rPr>
              <a:t>Verified model provenance</a:t>
            </a:r>
            <a:endParaRPr sz="1350" b="1" i="0">
              <a:solidFill>
                <a:srgbClr val="241C1B"/>
              </a:solidFill>
              <a:latin typeface="Segoe UI Semibold" panose="020B0702040204020203"/>
            </a:endParaRP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746967"/>
                </a:solidFill>
                <a:latin typeface="Segoe UI" panose="020B0502040204020203"/>
              </a:rPr>
              <a:t>The liveness model is a from-source export with hash-verified weights and a documented chain of custody — not an unverified download.</a:t>
            </a:r>
            <a:endParaRPr sz="1200" b="0" i="0">
              <a:solidFill>
                <a:srgbClr val="746967"/>
              </a:solidFill>
              <a:latin typeface="Segoe UI" panose="020B0502040204020203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5120640" cy="4206240"/>
          </a:xfrm>
          <a:prstGeom prst="roundRect">
            <a:avLst>
              <a:gd name="adj" fmla="val 6000"/>
            </a:avLst>
          </a:prstGeom>
          <a:solidFill>
            <a:srgbClr val="7B1113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 Semibold" panose="020B0702040204020203"/>
              </a:rPr>
              <a:t>RA 10173 — Data Privacy Act</a:t>
            </a:r>
            <a:endParaRPr sz="16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487168"/>
            <a:ext cx="4480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F1CECF"/>
                </a:solidFill>
                <a:latin typeface="Segoe UI" panose="020B0502040204020203"/>
              </a:rPr>
              <a:t>Continuous scanning captures biometric data on everyone passing the gate — not just enrolled users. Real deployment requires:</a:t>
            </a:r>
            <a:endParaRPr sz="1250" b="0" i="0">
              <a:solidFill>
                <a:srgbClr val="F1CECF"/>
              </a:solidFill>
              <a:latin typeface="Segoe UI" panose="020B0502040204020203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583680" y="3419856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3337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 panose="020B0502040204020203"/>
              </a:rPr>
              <a:t>Written consent collection</a:t>
            </a:r>
            <a:endParaRPr sz="1250" b="0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3803904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721608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 panose="020B0502040204020203"/>
              </a:rPr>
              <a:t>A visible notice at the gate</a:t>
            </a:r>
            <a:endParaRPr sz="1250" b="0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83680" y="4187952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410565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 panose="020B0502040204020203"/>
              </a:rPr>
              <a:t>Data-use &amp; retention disclosure</a:t>
            </a:r>
            <a:endParaRPr sz="1250" b="0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583680" y="4572000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489704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 panose="020B0502040204020203"/>
              </a:rPr>
              <a:t>A correction/deletion request process</a:t>
            </a:r>
            <a:endParaRPr sz="1250" b="0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583680" y="4956048"/>
            <a:ext cx="82296" cy="82296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487375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 panose="020B0502040204020203"/>
              </a:rPr>
              <a:t>Data Protection Officer sign-off</a:t>
            </a:r>
            <a:endParaRPr sz="1250" b="0" i="0">
              <a:solidFill>
                <a:srgbClr val="FFFFF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WRAPPING UP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Future Work &amp; Conclusion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CONCLUSION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21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932B"/>
                </a:solidFill>
                <a:latin typeface="Segoe UI Semibold" panose="020B0702040204020203"/>
              </a:rPr>
              <a:t>Future Work</a:t>
            </a:r>
            <a:endParaRPr sz="1400" b="1" i="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76272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Threshold tuning against real enrolled-population data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7980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Vector-index search (FAISS) for large-scale enrollment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3D/silicone-mask-aware liveness signal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712464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Multi-gate registry &amp; per-gate configuration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224528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Push notifications for flagged / spoof events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7B1113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 panose="020B0702040204020203"/>
              </a:rPr>
              <a:t>Conclusion</a:t>
            </a:r>
            <a:endParaRPr sz="18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CECF"/>
                </a:solidFill>
                <a:latin typeface="Segoe UI" panose="020B0502040204020203"/>
              </a:rPr>
              <a:t>EVSU SecureTap shows that reliable, spoof-resistant biometric gate security doesn't require specialized depth or infrared hardware.</a:t>
            </a:r>
            <a:endParaRPr sz="1450" b="0" i="0">
              <a:solidFill>
                <a:srgbClr val="F1CECF"/>
              </a:solidFill>
              <a:latin typeface="Segoe UI" panose="020B0502040204020203"/>
            </a:endParaRP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CECF"/>
                </a:solidFill>
                <a:latin typeface="Segoe UI" panose="020B0502040204020203"/>
              </a:rPr>
              <a:t>By combining continuous ArcFace recognition, a two-signal passive liveness check, and NFC as an intelligent tiebreaker — all confirmed through multi-frame voting — the system verifies identity, not just possession of a card, using only a standard webcam.</a:t>
            </a:r>
            <a:endParaRPr sz="1450" b="0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18872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88036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 panose="020B0502040204020203"/>
              </a:rPr>
              <a:t>Thank You</a:t>
            </a:r>
            <a:endParaRPr sz="4800" b="1" i="0">
              <a:solidFill>
                <a:srgbClr val="FFFFFF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F3E2BC"/>
                </a:solidFill>
                <a:latin typeface="Segoe UI" panose="020B0502040204020203"/>
              </a:rPr>
              <a:t>Questions &amp; Discussion</a:t>
            </a:r>
            <a:endParaRPr sz="1800" b="0" i="0">
              <a:solidFill>
                <a:srgbClr val="F3E2BC"/>
              </a:solidFill>
              <a:latin typeface="Segoe UI" panose="020B05020402040202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413248" y="4526280"/>
            <a:ext cx="1371600" cy="33020"/>
          </a:xfrm>
          <a:prstGeom prst="rect">
            <a:avLst/>
          </a:prstGeom>
          <a:solidFill>
            <a:srgbClr val="C9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1CECF"/>
                </a:solidFill>
                <a:latin typeface="Segoe UI" panose="020B0502040204020203"/>
              </a:rPr>
              <a:t>EVSU SecureTap  ·  Eastern Visayas State University</a:t>
            </a:r>
            <a:endParaRPr sz="1200" b="1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80">
                <a:solidFill>
                  <a:srgbClr val="C9932B"/>
                </a:solidFill>
                <a:latin typeface="Segoe UI Semibold" panose="020B0702040204020203"/>
              </a:rPr>
              <a:t>RESULTS</a:t>
            </a:r>
            <a:endParaRPr sz="1300" b="1" i="0" spc="18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68096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1C1B"/>
                </a:solidFill>
                <a:latin typeface="Segoe UI" panose="020B0502040204020203"/>
              </a:rPr>
              <a:t>Actual Accomplishments</a:t>
            </a:r>
            <a:endParaRPr sz="3000" b="1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444752"/>
            <a:ext cx="502920" cy="4064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528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00">
                <a:solidFill>
                  <a:srgbClr val="746967"/>
                </a:solidFill>
                <a:latin typeface="Segoe UI Semibold" panose="020B0702040204020203"/>
              </a:rPr>
              <a:t>PLATFORM</a:t>
            </a:r>
            <a:endParaRPr sz="950" b="0" i="0" spc="10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528816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6967"/>
                </a:solidFill>
                <a:latin typeface="Segoe UI Semibold" panose="020B0702040204020203"/>
              </a:rPr>
              <a:t>20</a:t>
            </a:r>
            <a:endParaRPr sz="950" b="0" i="0">
              <a:solidFill>
                <a:srgbClr val="746967"/>
              </a:solidFill>
              <a:latin typeface="Segoe UI Semibold" panose="020B07020402040202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13970"/>
          </a:xfrm>
          <a:prstGeom prst="rect">
            <a:avLst/>
          </a:prstGeom>
          <a:solidFill>
            <a:srgbClr val="E8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9932B"/>
                </a:solidFill>
                <a:latin typeface="Segoe UI Semibold" panose="020B0702040204020203"/>
              </a:rPr>
              <a:t>Completed Modules</a:t>
            </a:r>
            <a:endParaRPr sz="1400" b="1" i="0">
              <a:solidFill>
                <a:srgbClr val="C9932B"/>
              </a:solidFill>
              <a:latin typeface="Segoe UI Semibold" panose="020B0702040204020203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2286000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76272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Entry-Agent App: Tkinter gate scanner with local SQLite queue for offline resilience.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66928" y="2798064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2688336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Backend REST API: Django server handling face recognition &amp; liveness detection models.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3310128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3200400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Admin Dashboard: React web app for real-time live monitoring, profiles, and reports.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22192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712464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MySQL Database: Centralized storage for enrolled persons, embeddings, and logs.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33425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224528"/>
            <a:ext cx="49194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41C1B"/>
                </a:solidFill>
                <a:latin typeface="Segoe UI" panose="020B0502040204020203"/>
              </a:rPr>
              <a:t>Secure Authentication: Dual token scheme (JWT for dashboard, service tokens for edge agents).</a:t>
            </a:r>
            <a:endParaRPr sz="1300" b="0" i="0">
              <a:solidFill>
                <a:srgbClr val="241C1B"/>
              </a:solidFill>
              <a:latin typeface="Segoe UI" panose="020B0502040204020203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120640" cy="4160520"/>
          </a:xfrm>
          <a:prstGeom prst="roundRect">
            <a:avLst>
              <a:gd name="adj" fmla="val 6000"/>
            </a:avLst>
          </a:prstGeom>
          <a:solidFill>
            <a:srgbClr val="7B1113"/>
          </a:solidFill>
          <a:ln w="12700">
            <a:solidFill>
              <a:srgbClr val="E8E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 Semibold" panose="020B0702040204020203"/>
              </a:rPr>
              <a:t>Key Accomplishments</a:t>
            </a:r>
            <a:endParaRPr sz="1800" b="1" i="0">
              <a:solidFill>
                <a:srgbClr val="FFFFFF"/>
              </a:solidFill>
              <a:latin typeface="Segoe UI Semibold" panose="020B07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44805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1" i="0">
                <a:solidFill>
                  <a:srgbClr val="F1CECF"/>
                </a:solidFill>
                <a:latin typeface="Segoe UI" panose="020B0502040204020203"/>
              </a:rPr>
              <a:t>Development Status: 100% Completed Core System</a:t>
            </a:r>
            <a:endParaRPr sz="1450" b="0" i="0">
              <a:solidFill>
                <a:srgbClr val="F1CECF"/>
              </a:solidFill>
              <a:latin typeface="Segoe UI" panose="020B0502040204020203"/>
            </a:endParaRP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1CECF"/>
                </a:solidFill>
                <a:latin typeface="Segoe UI" panose="020B0502040204020203"/>
              </a:rPr>
              <a:t>The system is fully developed, integrating face recognition (InsightFace/ArcFace) and passive liveness detection (MiniFASNetV2 + classical cues) with zero external dependencies on the edge gate PC.
Major Features Operational:
• Continuous 1:N Face Recognition (0.2s scan interval, ~5 fps)
• Passive Anti-Spoofing (2.3ms latency, 2D webcam compatible)
• Face + NFC Interplay (automated card-tap tiebreak resolved in 10s)
• Multi-Frame Majority Voting (noise/error filtering for gate events)</a:t>
            </a:r>
            <a:endParaRPr sz="1450" b="0" i="0">
              <a:solidFill>
                <a:srgbClr val="F1CECF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2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3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4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5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6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7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8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9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10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11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ags/tag12.xml><?xml version="1.0" encoding="utf-8"?>
<p:tagLst xmlns:p="http://schemas.openxmlformats.org/presentationml/2006/main">
  <p:tag name="KSO_WM_DIAGRAM_VIRTUALLY_FRAME" val="{&quot;height&quot;:277.91999999999996,&quot;left&quot;:471.6,&quot;top&quot;:140.4,&quot;width&quot;:43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10468</Words>
  <Application>WPS Presentation</Application>
  <PresentationFormat>On-screen Show (4:3)</PresentationFormat>
  <Paragraphs>638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SimSun</vt:lpstr>
      <vt:lpstr>Wingdings</vt:lpstr>
      <vt:lpstr>Arial</vt:lpstr>
      <vt:lpstr>Segoe UI Semibold</vt:lpstr>
      <vt:lpstr>Segoe UI</vt:lpstr>
      <vt:lpstr>Segoe UI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Pauline claire</cp:lastModifiedBy>
  <cp:revision>3</cp:revision>
  <dcterms:created xsi:type="dcterms:W3CDTF">2013-01-27T09:14:00Z</dcterms:created>
  <dcterms:modified xsi:type="dcterms:W3CDTF">2026-08-08T16:04:04Z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CF3AB0ED424F4A4EB86B2D5C1598FC5C_12</vt:lpwstr>
  </property>
  <property fmtid="{D5CDD505-2E9C-101B-9397-08002B2CF9AE}" pid="3" name="KSOProductBuildVer">
    <vt:lpwstr>2057-12.2.0.23206</vt:lpwstr>
  </property>
</Properties>
</file>